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6FCE"/>
          </a:solidFill>
          <a:ln w="12700">
            <a:solidFill>
              <a:srgbClr val="2F6F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5: Asking Questions with if and else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338328"/>
            <a:ext cx="8869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version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475488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26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if statement asks a question.</a:t>
            </a:r>
            <a:endParaRPr lang="en-US" sz="2600" dirty="0"/>
          </a:p>
          <a:p>
            <a:pPr marL="177800" indent="-177800">
              <a:buSzPct val="100000"/>
              <a:buChar char="•"/>
            </a:pPr>
            <a:r>
              <a:rPr lang="en-US" sz="26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True or False.</a:t>
            </a:r>
            <a:endParaRPr lang="en-US" sz="2600" dirty="0"/>
          </a:p>
          <a:p>
            <a:pPr marL="177800" indent="-177800">
              <a:buSzPct val="100000"/>
              <a:buChar char="•"/>
            </a:pPr>
            <a:r>
              <a:rPr lang="en-US" sz="26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robot chooses what to do next.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4206240" cy="1600200"/>
          </a:xfrm>
          <a:prstGeom prst="roundRect">
            <a:avLst>
              <a:gd name="adj" fmla="val 2857"/>
            </a:avLst>
          </a:prstGeom>
          <a:solidFill>
            <a:srgbClr val="F7F9FC"/>
          </a:solidFill>
          <a:ln w="12700">
            <a:solidFill>
              <a:srgbClr val="CDD7E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47104" y="1892808"/>
            <a:ext cx="391363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 = 8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distance &lt; 10: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print("Stop the robot!")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13970">
            <a:solidFill>
              <a:srgbClr val="2F6F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4739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slides with your guided worksheets.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6FCE"/>
          </a:solidFill>
          <a:ln w="12700">
            <a:solidFill>
              <a:srgbClr val="2F6F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Indentation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530352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Indented lines belong to the if statement.</a:t>
            </a:r>
            <a:endParaRPr lang="en-US" sz="2500" dirty="0"/>
          </a:p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Lines in the same block must line up.</a:t>
            </a:r>
            <a:endParaRPr lang="en-US" sz="2500" dirty="0"/>
          </a:p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indentation causes errors.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0" y="1554480"/>
            <a:ext cx="4297680" cy="1554480"/>
          </a:xfrm>
          <a:prstGeom prst="roundRect">
            <a:avLst>
              <a:gd name="adj" fmla="val 2941"/>
            </a:avLst>
          </a:prstGeom>
          <a:solidFill>
            <a:srgbClr val="F7F9FC"/>
          </a:solidFill>
          <a:ln w="12700">
            <a:solidFill>
              <a:srgbClr val="CDD7E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47104" y="1664208"/>
            <a:ext cx="40050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battery &lt; 50: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print("Charge soon")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print("Do not start mission")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6FCE"/>
          </a:solidFill>
          <a:ln w="12700">
            <a:solidFill>
              <a:srgbClr val="2F6F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Comparison operators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4800600" cy="457200"/>
          </a:xfrm>
          <a:prstGeom prst="roundRect">
            <a:avLst/>
          </a:prstGeom>
          <a:solidFill>
            <a:srgbClr val="EFF4FF"/>
          </a:solidFill>
          <a:ln w="12700">
            <a:solidFill>
              <a:srgbClr val="C8D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13533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4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equal to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892808"/>
            <a:ext cx="4800600" cy="457200"/>
          </a:xfrm>
          <a:prstGeom prst="roundRect">
            <a:avLst/>
          </a:prstGeom>
          <a:solidFill>
            <a:srgbClr val="EFF4FF"/>
          </a:solidFill>
          <a:ln w="12700">
            <a:solidFill>
              <a:srgbClr val="C8D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01168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4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  not equal to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2551176"/>
            <a:ext cx="4800600" cy="457200"/>
          </a:xfrm>
          <a:prstGeom prst="roundRect">
            <a:avLst/>
          </a:prstGeom>
          <a:solidFill>
            <a:srgbClr val="EFF4FF"/>
          </a:solidFill>
          <a:ln w="12700">
            <a:solidFill>
              <a:srgbClr val="C8D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67004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4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 greater than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209544"/>
            <a:ext cx="4800600" cy="457200"/>
          </a:xfrm>
          <a:prstGeom prst="roundRect">
            <a:avLst/>
          </a:prstGeom>
          <a:solidFill>
            <a:srgbClr val="EFF4FF"/>
          </a:solidFill>
          <a:ln w="12700">
            <a:solidFill>
              <a:srgbClr val="C8D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32841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4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 less than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3867912"/>
            <a:ext cx="4800600" cy="457200"/>
          </a:xfrm>
          <a:prstGeom prst="roundRect">
            <a:avLst/>
          </a:prstGeom>
          <a:solidFill>
            <a:srgbClr val="EFF4FF"/>
          </a:solidFill>
          <a:ln w="12700">
            <a:solidFill>
              <a:srgbClr val="C8D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9867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4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greater than or equal to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4526280"/>
            <a:ext cx="4800600" cy="457200"/>
          </a:xfrm>
          <a:prstGeom prst="roundRect">
            <a:avLst/>
          </a:prstGeom>
          <a:solidFill>
            <a:srgbClr val="EFF4FF"/>
          </a:solidFill>
          <a:ln w="12700">
            <a:solidFill>
              <a:srgbClr val="C8D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6451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4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 less than or equal to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720840" y="1965960"/>
            <a:ext cx="3657600" cy="150876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CDD7E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67144" y="2075688"/>
            <a:ext cx="336499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12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speed &gt;= 10: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print("Fast enough")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6FCE"/>
          </a:solidFill>
          <a:ln w="12700">
            <a:solidFill>
              <a:srgbClr val="2F6F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if / elif / else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4389120" cy="2560320"/>
          </a:xfrm>
          <a:prstGeom prst="roundRect">
            <a:avLst>
              <a:gd name="adj" fmla="val 1786"/>
            </a:avLst>
          </a:prstGeom>
          <a:solidFill>
            <a:srgbClr val="F7F9FC"/>
          </a:solidFill>
          <a:ln w="12700">
            <a:solidFill>
              <a:srgbClr val="CDD7E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0704" y="1527048"/>
            <a:ext cx="409651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 = 15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distance &lt; 10: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print("Stop")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distance &lt; 20: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print("Slow down")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print("Keep moving")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420624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= first choice</a:t>
            </a:r>
            <a:endParaRPr lang="en-US" sz="2500" dirty="0"/>
          </a:p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elif = another choice</a:t>
            </a:r>
            <a:endParaRPr lang="en-US" sz="2500" dirty="0"/>
          </a:p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else = last choice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6FCE"/>
          </a:solidFill>
          <a:ln w="12700">
            <a:solidFill>
              <a:srgbClr val="2F6F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More than one condition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4480560" cy="1325880"/>
          </a:xfrm>
          <a:prstGeom prst="roundRect">
            <a:avLst>
              <a:gd name="adj" fmla="val 3448"/>
            </a:avLst>
          </a:prstGeom>
          <a:solidFill>
            <a:srgbClr val="F7F9FC"/>
          </a:solidFill>
          <a:ln w="12700">
            <a:solidFill>
              <a:srgbClr val="CDD7E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0704" y="1664208"/>
            <a:ext cx="41879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temperature &gt; 20 and battery &gt; 50: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print("Start the robot")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337560"/>
            <a:ext cx="4480560" cy="1280160"/>
          </a:xfrm>
          <a:prstGeom prst="roundRect">
            <a:avLst>
              <a:gd name="adj" fmla="val 3571"/>
            </a:avLst>
          </a:prstGeom>
          <a:solidFill>
            <a:srgbClr val="F7F9FC"/>
          </a:solidFill>
          <a:ln w="12700">
            <a:solidFill>
              <a:srgbClr val="CDD7E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0704" y="3447288"/>
            <a:ext cx="4187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None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target == None: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target found yet")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26480" y="1828800"/>
            <a:ext cx="484632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= every condition must be True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= at least one condition must be True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= no value yet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6FCE"/>
          </a:solidFill>
          <a:ln w="12700">
            <a:solidFill>
              <a:srgbClr val="2F6F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Strings and numbers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4572000" cy="173736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12700">
            <a:solidFill>
              <a:srgbClr val="CDD7E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0704" y="1572768"/>
            <a:ext cx="427939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user_distance = "10"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 = int(user_distance)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distance == 10: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print("Turn left")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41148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"10" is text.</a:t>
            </a:r>
            <a:endParaRPr lang="en-US" sz="2500" dirty="0"/>
          </a:p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is a number.</a:t>
            </a:r>
            <a:endParaRPr lang="en-US" sz="2500" dirty="0"/>
          </a:p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int() or float() to convert input.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</a:rPr>
              <a:t>Examples: int("10") → 10    float("10.5") → 10.5    str(10) → "10"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6FCE"/>
          </a:solidFill>
          <a:ln w="12700">
            <a:solidFill>
              <a:srgbClr val="2F6F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Watch the example</a:t>
            </a:r>
            <a:endParaRPr lang="en-US" sz="2500" dirty="0"/>
          </a:p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Predict the output</a:t>
            </a:r>
            <a:endParaRPr lang="en-US" sz="2500" dirty="0"/>
          </a:p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Type it in online-python.com</a:t>
            </a:r>
            <a:endParaRPr lang="en-US" sz="2500" dirty="0"/>
          </a:p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Test new values</a:t>
            </a:r>
            <a:endParaRPr lang="en-US" sz="2500" dirty="0"/>
          </a:p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Complete the worksheet</a:t>
            </a:r>
            <a:endParaRPr lang="en-US" sz="2500" dirty="0"/>
          </a:p>
          <a:p>
            <a:pPr marL="177800" indent="-177800">
              <a:buSzPct val="100000"/>
              <a:buChar char="•"/>
            </a:pPr>
            <a:r>
              <a:rPr lang="en-US" sz="25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Finish the final assignment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46520" y="1508760"/>
            <a:ext cx="4251960" cy="237744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CDD7E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92824" y="1618488"/>
            <a:ext cx="395935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battery = 35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battery &lt; 20: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print("Emergency stop")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battery &lt; 50: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print("Recharge soon")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print("Ready to run")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13970">
            <a:solidFill>
              <a:srgbClr val="2F6F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Website: online-python.com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 Robotics Student Version</dc:title>
  <dc:subject>Student slides</dc:subject>
  <dc:creator>OpenAI</dc:creator>
  <cp:lastModifiedBy>OpenAI</cp:lastModifiedBy>
  <cp:revision>1</cp:revision>
  <dcterms:created xsi:type="dcterms:W3CDTF">2026-03-28T14:42:18Z</dcterms:created>
  <dcterms:modified xsi:type="dcterms:W3CDTF">2026-03-28T14:42:18Z</dcterms:modified>
</cp:coreProperties>
</file>